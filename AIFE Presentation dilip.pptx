
<file path=[Content_Types].xml><?xml version="1.0" encoding="utf-8"?>
<Types xmlns="http://schemas.openxmlformats.org/package/2006/content-types">
  <Default Extension="1" ContentType="image/jpeg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9" r:id="rId9"/>
    <p:sldId id="261" r:id="rId10"/>
    <p:sldId id="271" r:id="rId11"/>
    <p:sldId id="272" r:id="rId12"/>
    <p:sldId id="262" r:id="rId13"/>
    <p:sldId id="263" r:id="rId14"/>
    <p:sldId id="264" r:id="rId15"/>
    <p:sldId id="268" r:id="rId16"/>
  </p:sldIdLst>
  <p:sldSz cx="9144000" cy="5143500" type="screen16x9"/>
  <p:notesSz cx="5143500" cy="9144000"/>
  <p:embeddedFontLst>
    <p:embeddedFont>
      <p:font typeface="Crimson Text" panose="020B0604020202020204" charset="0"/>
      <p:regular r:id="rId18"/>
    </p:embeddedFont>
    <p:embeddedFont>
      <p:font typeface="Crimson Text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983C2F-E5C8-4FBA-8C38-4900D24B0B2B}" v="116" dt="2026-06-24T13:43:28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304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1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awpixel.com/search/orange%20backgroun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490458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search/background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www.rawpixel.com/search/beautiful+landscapes%20ocean%20sky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1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hyperlink" Target="https://www.rawpixel.com/search/yellow%20background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ilipnaidhruva.github.io/E-profile/" TargetMode="External"/><Relationship Id="rId3" Type="http://schemas.openxmlformats.org/officeDocument/2006/relationships/image" Target="../media/image15.jp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hyperlink" Target="https://www.rawpixel.com/search/desktop%20wallpaper%20design%20resource%20background%20downloadabl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flickr.com/photos/20401442@N08/15777223905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jp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hyperlink" Target="https://creativecommons.org/licenses/by/3.0/" TargetMode="External"/><Relationship Id="rId10" Type="http://schemas.openxmlformats.org/officeDocument/2006/relationships/image" Target="../media/image29.svg"/><Relationship Id="rId4" Type="http://schemas.openxmlformats.org/officeDocument/2006/relationships/hyperlink" Target="https://www.flickr.com/photos/sakeeb/4647211575" TargetMode="External"/><Relationship Id="rId9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hyperlink" Target="https://www.pickpik.com/goal-football-football-pitch-ball-grass-adidas-142479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1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svg"/><Relationship Id="rId4" Type="http://schemas.openxmlformats.org/officeDocument/2006/relationships/hyperlink" Target="https://www.rawpixel.com/search/tenni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sv/photo/1368518" TargetMode="External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925119" y="473959"/>
            <a:ext cx="1701478" cy="266402"/>
          </a:xfrm>
          <a:prstGeom prst="roundRect">
            <a:avLst>
              <a:gd name="adj" fmla="val 17880"/>
            </a:avLst>
          </a:prstGeom>
          <a:solidFill>
            <a:srgbClr val="F8D3D5"/>
          </a:solidFill>
          <a:ln/>
        </p:spPr>
      </p:sp>
      <p:sp>
        <p:nvSpPr>
          <p:cNvPr id="4" name="Text 1"/>
          <p:cNvSpPr/>
          <p:nvPr/>
        </p:nvSpPr>
        <p:spPr>
          <a:xfrm>
            <a:off x="3816210" y="117266"/>
            <a:ext cx="3479396" cy="56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39851" y="3694332"/>
            <a:ext cx="3015183" cy="144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u="sng" dirty="0">
                <a:solidFill>
                  <a:schemeClr val="bg1"/>
                </a:solidFill>
              </a:rPr>
              <a:t>M SAMPRIYAN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750" u="sng" dirty="0">
                <a:solidFill>
                  <a:schemeClr val="bg1"/>
                </a:solidFill>
              </a:rPr>
              <a:t>CSIT A (R25EJ060)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750" u="sng" dirty="0">
                <a:solidFill>
                  <a:schemeClr val="bg1"/>
                </a:solidFill>
              </a:rPr>
              <a:t>School of CSE</a:t>
            </a:r>
          </a:p>
        </p:txBody>
      </p:sp>
      <p:sp>
        <p:nvSpPr>
          <p:cNvPr id="6" name="Text 3"/>
          <p:cNvSpPr/>
          <p:nvPr/>
        </p:nvSpPr>
        <p:spPr>
          <a:xfrm>
            <a:off x="2425182" y="2032083"/>
            <a:ext cx="4543946" cy="13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00" u="sng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AIFE Semester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4400" u="sng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Examination-2026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CB03DE-A945-FD4B-D479-532A25EF4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323" y="285098"/>
            <a:ext cx="4687353" cy="15802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E1FE33-CCD2-10AF-D339-A7AA4B1A2762}"/>
              </a:ext>
            </a:extLst>
          </p:cNvPr>
          <p:cNvSpPr txBox="1"/>
          <p:nvPr/>
        </p:nvSpPr>
        <p:spPr>
          <a:xfrm>
            <a:off x="209006" y="3818751"/>
            <a:ext cx="5662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/ Department: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Foundation For Engineers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&amp; Information Technology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Mentor: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Prof. Kasi Viswanath 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6C42DF0-B25E-2ECF-A957-020807F68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9144000" cy="55117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8965" y="228324"/>
            <a:ext cx="768606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IN" sz="4000" b="1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Strategy &amp; Team Profile</a:t>
            </a:r>
          </a:p>
        </p:txBody>
      </p:sp>
      <p:sp>
        <p:nvSpPr>
          <p:cNvPr id="4" name="Text 1"/>
          <p:cNvSpPr/>
          <p:nvPr/>
        </p:nvSpPr>
        <p:spPr>
          <a:xfrm>
            <a:off x="347588" y="1112302"/>
            <a:ext cx="3359369" cy="369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2400" u="sng" dirty="0">
                <a:solidFill>
                  <a:schemeClr val="bg1"/>
                </a:solidFill>
              </a:rPr>
              <a:t>TEAM NAME: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2800" b="1" dirty="0">
                <a:solidFill>
                  <a:schemeClr val="bg1"/>
                </a:solidFill>
              </a:rPr>
              <a:t>APEX GP</a:t>
            </a:r>
          </a:p>
          <a:p>
            <a:pPr marL="0" indent="0">
              <a:lnSpc>
                <a:spcPct val="133000"/>
              </a:lnSpc>
              <a:buNone/>
            </a:pPr>
            <a:r>
              <a:rPr lang="en-US" sz="2400" u="sng" dirty="0">
                <a:solidFill>
                  <a:schemeClr val="bg1"/>
                </a:solidFill>
              </a:rPr>
              <a:t>TEAM MEMBERS:</a:t>
            </a:r>
          </a:p>
          <a:p>
            <a:pPr marL="0" indent="0">
              <a:lnSpc>
                <a:spcPct val="133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1.DILIP NAIDHRUVA</a:t>
            </a:r>
          </a:p>
          <a:p>
            <a:pPr marL="0" indent="0">
              <a:lnSpc>
                <a:spcPct val="133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2.HARSHIL NAIR</a:t>
            </a:r>
          </a:p>
          <a:p>
            <a:pPr marL="0" indent="0">
              <a:lnSpc>
                <a:spcPct val="133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3.KARTHIK MR</a:t>
            </a:r>
          </a:p>
          <a:p>
            <a:pPr marL="0" indent="0">
              <a:lnSpc>
                <a:spcPct val="133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4.M SAMPRIYAN</a:t>
            </a:r>
          </a:p>
        </p:txBody>
      </p:sp>
      <p:sp>
        <p:nvSpPr>
          <p:cNvPr id="5" name="Shape 2"/>
          <p:cNvSpPr/>
          <p:nvPr/>
        </p:nvSpPr>
        <p:spPr>
          <a:xfrm>
            <a:off x="3997234" y="924860"/>
            <a:ext cx="4722763" cy="1300052"/>
          </a:xfrm>
          <a:prstGeom prst="roundRect">
            <a:avLst>
              <a:gd name="adj" fmla="val 50000"/>
            </a:avLst>
          </a:prstGeom>
          <a:solidFill>
            <a:srgbClr val="F8D3D5"/>
          </a:solidFill>
          <a:ln w="4763">
            <a:solidFill>
              <a:srgbClr val="DEB9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7147" y="11175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487091" y="1403151"/>
            <a:ext cx="404295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Develop practical software solutions using modern engineering tools and deploy them online.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054545" y="2365999"/>
            <a:ext cx="4589995" cy="1506810"/>
          </a:xfrm>
          <a:prstGeom prst="roundRect">
            <a:avLst>
              <a:gd name="adj" fmla="val 50000"/>
            </a:avLst>
          </a:prstGeom>
          <a:solidFill>
            <a:srgbClr val="F8D3D5"/>
          </a:solidFill>
          <a:ln w="4763">
            <a:solidFill>
              <a:srgbClr val="DEB9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5539467" y="24964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Tools &amp; Technologies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87092" y="2840673"/>
            <a:ext cx="40429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Python · Git &amp; GitHub · HTML5 · CSS3 · JavaScript · GitHub Pages · Hugging Face AI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1777" y="4001152"/>
            <a:ext cx="4722763" cy="1053182"/>
          </a:xfrm>
          <a:prstGeom prst="roundRect">
            <a:avLst>
              <a:gd name="adj" fmla="val 50000"/>
            </a:avLst>
          </a:prstGeom>
          <a:solidFill>
            <a:srgbClr val="F8D3D5"/>
          </a:solidFill>
          <a:ln w="4763">
            <a:solidFill>
              <a:srgbClr val="DEB9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9"/>
          <p:cNvSpPr/>
          <p:nvPr/>
        </p:nvSpPr>
        <p:spPr>
          <a:xfrm>
            <a:off x="5601660" y="41070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Portfolio Scope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487092" y="4364314"/>
            <a:ext cx="40429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4 projects spanning Python programming, AI analysis, and full web development.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8E1FFE4-125F-5AC0-B202-6337A3A40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62" y="0"/>
            <a:ext cx="9140638" cy="5145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5D74B1-9F43-9519-AFF2-19FEFC41B346}"/>
              </a:ext>
            </a:extLst>
          </p:cNvPr>
          <p:cNvSpPr txBox="1"/>
          <p:nvPr/>
        </p:nvSpPr>
        <p:spPr>
          <a:xfrm>
            <a:off x="809897" y="202474"/>
            <a:ext cx="7903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C00000"/>
                </a:solidFill>
              </a:rPr>
              <a:t>THE IMPORTANCE OF AI IN MODERN SOFTWARE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D8BE7C-A776-07C2-7F62-B17578F2A5E9}"/>
              </a:ext>
            </a:extLst>
          </p:cNvPr>
          <p:cNvSpPr txBox="1"/>
          <p:nvPr/>
        </p:nvSpPr>
        <p:spPr>
          <a:xfrm>
            <a:off x="326571" y="1605277"/>
            <a:ext cx="84712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Accelerated Coding Frameworks: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Generative AI cuts down syntax debugging loops from hours to seconds, allowing engineers to focus on architectural system design.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Refactoring: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assistants optimize computational code blocks for time and space complexity automatically.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Data Simulation: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enables immediate processing, classification, and validation of multi-variable metrics in live software models.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Production-Ready Quality Assurance: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Automated test generation ensures high-reliability code bases before web deployment</a:t>
            </a:r>
            <a:r>
              <a:rPr lang="en-IN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8607266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F52F82-8E9C-28B0-7A5B-97406C76DF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0145E5-1DD7-0921-1E9E-7F6B4D4AFC53}"/>
              </a:ext>
            </a:extLst>
          </p:cNvPr>
          <p:cNvSpPr txBox="1"/>
          <p:nvPr/>
        </p:nvSpPr>
        <p:spPr>
          <a:xfrm>
            <a:off x="1090749" y="254726"/>
            <a:ext cx="7393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Deployment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BAA4B-9937-1DD3-7E6F-4BB41D1E9BAA}"/>
              </a:ext>
            </a:extLst>
          </p:cNvPr>
          <p:cNvSpPr txBox="1"/>
          <p:nvPr/>
        </p:nvSpPr>
        <p:spPr>
          <a:xfrm>
            <a:off x="143691" y="1302536"/>
            <a:ext cx="46438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AI Insertion Vector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Gemini is utilized at the transition from Idea to Development to instantly establish the technological boilerplate.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Version Control Foundations:</a:t>
            </a:r>
            <a:r>
              <a:rPr lang="en-IN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 branching strategies track granular codebase iterations, ensuring seamless deployment tracking.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 Accessibility:</a:t>
            </a:r>
            <a:r>
              <a:rPr lang="en-IN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builds are compiled and served via serverless distribution targets (GitHub Pages / Hugging Face Spaces) for instant public auditing. 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01E667-D278-B294-2655-BAD91AE11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725" y="1718353"/>
            <a:ext cx="4278086" cy="260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3765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BCB1498-04E3-F93B-941B-559F175869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96119" y="400124"/>
            <a:ext cx="617413" cy="228451"/>
          </a:xfrm>
          <a:prstGeom prst="roundRect">
            <a:avLst>
              <a:gd name="adj" fmla="val 18570"/>
            </a:avLst>
          </a:prstGeom>
          <a:noFill/>
          <a:ln/>
          <a:effectLst>
            <a:outerShdw blurRad="101600" dist="50800" dir="16200000" algn="bl" rotWithShape="0">
              <a:srgbClr val="BE202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1872" y="438001"/>
            <a:ext cx="923106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5467" y="95038"/>
            <a:ext cx="5969995" cy="42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1 </a:t>
            </a:r>
          </a:p>
          <a:p>
            <a:pPr algn="ctr">
              <a:lnSpc>
                <a:spcPct val="104000"/>
              </a:lnSpc>
            </a:pPr>
            <a:r>
              <a:rPr lang="en-IN" sz="3200" dirty="0"/>
              <a:t>Average of Array Elements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1363191"/>
            <a:ext cx="4608537" cy="3253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9583" y="824126"/>
            <a:ext cx="224080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Text 4"/>
          <p:cNvSpPr/>
          <p:nvPr/>
        </p:nvSpPr>
        <p:spPr>
          <a:xfrm>
            <a:off x="5901498" y="1074104"/>
            <a:ext cx="2872347" cy="82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200" dirty="0"/>
              <a:t>Basic array operations often focus on extremes (maximum/minimum), but </a:t>
            </a:r>
            <a:r>
              <a:rPr lang="en-IN" sz="1200" dirty="0" err="1"/>
              <a:t>analyzing</a:t>
            </a:r>
            <a:r>
              <a:rPr lang="en-IN" sz="1200" dirty="0"/>
              <a:t> datasets requires understanding central tendencies like averages, which provide a balanced measure of overall values.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90505" y="1964717"/>
            <a:ext cx="224080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9" name="Text 6"/>
          <p:cNvSpPr/>
          <p:nvPr/>
        </p:nvSpPr>
        <p:spPr>
          <a:xfrm>
            <a:off x="5915721" y="2189857"/>
            <a:ext cx="287234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6000"/>
              </a:lnSpc>
            </a:pPr>
            <a:r>
              <a:rPr lang="en-IN" sz="1200" dirty="0"/>
              <a:t>Develop a C program that efficiently computes the average of array elements using a single traversal, ensuring accuracy and low computational overhead.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44809" y="3083247"/>
            <a:ext cx="280465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Mechanism</a:t>
            </a:r>
          </a:p>
        </p:txBody>
      </p:sp>
      <p:sp>
        <p:nvSpPr>
          <p:cNvPr id="11" name="Text 8"/>
          <p:cNvSpPr/>
          <p:nvPr/>
        </p:nvSpPr>
        <p:spPr>
          <a:xfrm>
            <a:off x="5950548" y="3398093"/>
            <a:ext cx="2652861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26000"/>
              </a:lnSpc>
              <a:buSzPct val="100000"/>
            </a:pPr>
            <a:r>
              <a:rPr lang="en-IN" sz="1200" dirty="0"/>
              <a:t>Implements a loop to accumulate the sum of all elements, then divides by the total count to yield the average. Uses type casting to ensure floating-point precision.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04420" y="4512723"/>
            <a:ext cx="547613" cy="228451"/>
          </a:xfrm>
          <a:prstGeom prst="roundRect">
            <a:avLst>
              <a:gd name="adj" fmla="val 18570"/>
            </a:avLst>
          </a:prstGeom>
          <a:solidFill>
            <a:srgbClr val="F8D3D5"/>
          </a:solidFill>
          <a:ln/>
        </p:spPr>
      </p:sp>
      <p:sp>
        <p:nvSpPr>
          <p:cNvPr id="13" name="Text 10"/>
          <p:cNvSpPr/>
          <p:nvPr/>
        </p:nvSpPr>
        <p:spPr>
          <a:xfrm>
            <a:off x="6079850" y="4570994"/>
            <a:ext cx="853306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PYTHON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610424" y="4331717"/>
            <a:ext cx="319236" cy="228451"/>
          </a:xfrm>
          <a:prstGeom prst="roundRect">
            <a:avLst>
              <a:gd name="adj" fmla="val 18570"/>
            </a:avLst>
          </a:prstGeom>
          <a:noFill/>
          <a:ln/>
          <a:effectLst>
            <a:outerShdw blurRad="101600" dist="50800" dir="16200000" algn="bl" rotWithShape="0">
              <a:srgbClr val="BE2025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12743" y="4543033"/>
            <a:ext cx="624929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750" dirty="0">
                <a:solidFill>
                  <a:srgbClr val="BE2025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GIT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992764" y="4331717"/>
            <a:ext cx="518145" cy="228451"/>
          </a:xfrm>
          <a:prstGeom prst="roundRect">
            <a:avLst>
              <a:gd name="adj" fmla="val 18570"/>
            </a:avLst>
          </a:prstGeom>
          <a:noFill/>
          <a:ln/>
          <a:effectLst>
            <a:outerShdw blurRad="101600" dist="50800" dir="16200000" algn="bl" rotWithShape="0">
              <a:srgbClr val="BE2025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57651" y="4550600"/>
            <a:ext cx="823838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750" dirty="0">
                <a:solidFill>
                  <a:srgbClr val="BE2025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GITHUB</a:t>
            </a:r>
            <a:endParaRPr lang="en-US" sz="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C82509-7397-2830-CD02-A9393E9694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6662" y="4161322"/>
            <a:ext cx="1401957" cy="7976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716A1D8-21BA-17B2-DA6F-2FDEE82868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584" y="1312772"/>
            <a:ext cx="4775200" cy="3304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595570E-BA3B-CDC4-1BA3-6DDA588122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7181" y="0"/>
            <a:ext cx="9144000" cy="511744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96119" y="436662"/>
            <a:ext cx="572691" cy="202629"/>
          </a:xfrm>
          <a:prstGeom prst="roundRect">
            <a:avLst>
              <a:gd name="adj" fmla="val 19100"/>
            </a:avLst>
          </a:prstGeom>
          <a:noFill/>
          <a:ln/>
          <a:effectLst>
            <a:outerShdw blurRad="101600" dist="50800" dir="16200000" algn="bl" rotWithShape="0">
              <a:srgbClr val="BE202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5175" y="471190"/>
            <a:ext cx="891778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55457" y="-2410"/>
            <a:ext cx="7516645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2 </a:t>
            </a:r>
          </a:p>
          <a:p>
            <a:pPr algn="ctr">
              <a:lnSpc>
                <a:spcPct val="104000"/>
              </a:lnSpc>
            </a:pPr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Face.com Biometric Analysis Platform</a:t>
            </a: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1379078"/>
            <a:ext cx="3935016" cy="2385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01401" y="1064620"/>
            <a:ext cx="3315647" cy="46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200" dirty="0"/>
              <a:t>Model Studied: </a:t>
            </a:r>
          </a:p>
          <a:p>
            <a:pPr>
              <a:lnSpc>
                <a:spcPct val="104000"/>
              </a:lnSpc>
            </a:pPr>
            <a:r>
              <a:rPr lang="en-IN" sz="1200" dirty="0"/>
              <a:t>DeepSeek-R1 hosted on the Hugging Face AI Hub. 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01401" y="1424256"/>
            <a:ext cx="3391486" cy="2115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8600" indent="-228600">
              <a:lnSpc>
                <a:spcPct val="121000"/>
              </a:lnSpc>
              <a:buFont typeface="+mj-lt"/>
              <a:buAutoNum type="arabicPeriod"/>
            </a:pPr>
            <a:r>
              <a:rPr lang="en-IN" sz="1200" b="1" u="sng" dirty="0"/>
              <a:t>Biometric Core:</a:t>
            </a:r>
            <a:r>
              <a:rPr lang="en-IN" sz="1200" u="sng" dirty="0"/>
              <a:t> </a:t>
            </a:r>
            <a:r>
              <a:rPr lang="en-IN" sz="1100" dirty="0"/>
              <a:t>Integrates Face.com API methodologies alongside open-source transformer reasoning spaces for high-fidelity facial tracking and automated parameter mining.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b="1" u="sng" dirty="0"/>
              <a:t>System Problem</a:t>
            </a:r>
            <a:r>
              <a:rPr lang="en-IN" sz="1100" b="1" dirty="0"/>
              <a:t>:</a:t>
            </a:r>
            <a:r>
              <a:rPr lang="en-IN" sz="1100" dirty="0"/>
              <a:t> Processing raw pixel coordinate arrays manually requires excessive tensor calculations, massive computer vision training timelines, and prone-to-error heuristics.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b="1" dirty="0"/>
              <a:t>The Solution:</a:t>
            </a:r>
            <a:r>
              <a:rPr lang="en-IN" sz="1200" dirty="0"/>
              <a:t> </a:t>
            </a:r>
            <a:r>
              <a:rPr lang="en-IN" sz="1100" dirty="0"/>
              <a:t>An AI-driven interface that queries trained vision pipelines to instantly return structured, lightweight facial point telemetry sets</a:t>
            </a:r>
          </a:p>
          <a:p>
            <a:pPr marL="228600" indent="-228600">
              <a:lnSpc>
                <a:spcPct val="121000"/>
              </a:lnSpc>
              <a:buFont typeface="+mj-lt"/>
              <a:buAutoNum type="arabicPeriod"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1203" y="2758604"/>
            <a:ext cx="1109960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830541" y="2724076"/>
            <a:ext cx="228228" cy="202629"/>
          </a:xfrm>
          <a:prstGeom prst="roundRect">
            <a:avLst>
              <a:gd name="adj" fmla="val 19100"/>
            </a:avLst>
          </a:prstGeom>
          <a:noFill/>
          <a:ln/>
          <a:effectLst>
            <a:outerShdw blurRad="101600" dist="50800" dir="16200000" algn="bl" rotWithShape="0">
              <a:srgbClr val="BE2025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99597" y="2758604"/>
            <a:ext cx="547315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7116291" y="2724076"/>
            <a:ext cx="1008683" cy="202629"/>
          </a:xfrm>
          <a:prstGeom prst="roundRect">
            <a:avLst>
              <a:gd name="adj" fmla="val 19100"/>
            </a:avLst>
          </a:prstGeom>
          <a:noFill/>
          <a:ln/>
          <a:effectLst>
            <a:outerShdw blurRad="101600" dist="50800" dir="16200000" algn="bl" rotWithShape="0">
              <a:srgbClr val="BE2025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85347" y="2758604"/>
            <a:ext cx="1327770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7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831" y="3878014"/>
            <a:ext cx="2669158" cy="8288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8387" y="4007421"/>
            <a:ext cx="167014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Architecture &amp; Parameters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68387" y="4243462"/>
            <a:ext cx="235319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Transformer-based design with billions of parameters enabling advanced reasoning.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0240" y="3878014"/>
            <a:ext cx="2669158" cy="8288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16796" y="4007421"/>
            <a:ext cx="150509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Training &amp; Applications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416796" y="4243462"/>
            <a:ext cx="235319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Trained on large-scale datasets; applied across NLP, reasoning, and generation tasks.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78649" y="3878014"/>
            <a:ext cx="2669158" cy="8288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65205" y="4007421"/>
            <a:ext cx="160689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Advantages &amp; Limitations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165205" y="4243462"/>
            <a:ext cx="235319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High accuracy and versatility, balanced against compute cost and bias considerations.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EEDC5D4A-1BE2-1FAE-844F-F3F89115E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-1"/>
            <a:ext cx="9144000" cy="512160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96119" y="408980"/>
            <a:ext cx="658490" cy="244376"/>
          </a:xfrm>
          <a:prstGeom prst="roundRect">
            <a:avLst>
              <a:gd name="adj" fmla="val 18274"/>
            </a:avLst>
          </a:prstGeom>
          <a:noFill/>
          <a:ln/>
          <a:effectLst>
            <a:outerShdw blurRad="101600" dist="50800" dir="16200000" algn="bl" rotWithShape="0">
              <a:srgbClr val="BE202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5816" y="448791"/>
            <a:ext cx="956295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57894" y="210666"/>
            <a:ext cx="840728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3 </a:t>
            </a:r>
          </a:p>
          <a:p>
            <a:pPr algn="ctr">
              <a:lnSpc>
                <a:spcPct val="104000"/>
              </a:lnSpc>
            </a:pPr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E-Profile</a:t>
            </a:r>
            <a:endParaRPr lang="en-US" sz="32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305297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3785" y="231234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2149" y="1898675"/>
            <a:ext cx="179412" cy="1794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92537" y="231234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92537" y="2594744"/>
            <a:ext cx="235885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51290" y="231234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51290" y="2594744"/>
            <a:ext cx="235885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396" y="3310235"/>
            <a:ext cx="179412" cy="1794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3785" y="372390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33785" y="4006304"/>
            <a:ext cx="373819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endParaRPr lang="en-US" sz="1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1488" y="3310235"/>
            <a:ext cx="179412" cy="1794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71876" y="372390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771876" y="4006304"/>
            <a:ext cx="37382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96119" y="4490070"/>
            <a:ext cx="505941" cy="244376"/>
          </a:xfrm>
          <a:prstGeom prst="roundRect">
            <a:avLst>
              <a:gd name="adj" fmla="val 18274"/>
            </a:avLst>
          </a:prstGeom>
          <a:solidFill>
            <a:srgbClr val="F8D3D5"/>
          </a:solidFill>
          <a:ln/>
        </p:spPr>
      </p:sp>
      <p:sp>
        <p:nvSpPr>
          <p:cNvPr id="32" name="Text 25"/>
          <p:cNvSpPr/>
          <p:nvPr/>
        </p:nvSpPr>
        <p:spPr>
          <a:xfrm>
            <a:off x="575816" y="4529882"/>
            <a:ext cx="803746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HTML5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1068512" y="4490070"/>
            <a:ext cx="377056" cy="244376"/>
          </a:xfrm>
          <a:prstGeom prst="roundRect">
            <a:avLst>
              <a:gd name="adj" fmla="val 18274"/>
            </a:avLst>
          </a:prstGeom>
          <a:solidFill>
            <a:srgbClr val="F8D3D5"/>
          </a:solidFill>
          <a:ln/>
        </p:spPr>
      </p:sp>
      <p:sp>
        <p:nvSpPr>
          <p:cNvPr id="34" name="Text 27"/>
          <p:cNvSpPr/>
          <p:nvPr/>
        </p:nvSpPr>
        <p:spPr>
          <a:xfrm>
            <a:off x="1148209" y="4529882"/>
            <a:ext cx="674861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CSS3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1512019" y="4490070"/>
            <a:ext cx="732011" cy="244376"/>
          </a:xfrm>
          <a:prstGeom prst="roundRect">
            <a:avLst>
              <a:gd name="adj" fmla="val 18274"/>
            </a:avLst>
          </a:prstGeom>
          <a:solidFill>
            <a:srgbClr val="F8D3D5"/>
          </a:solidFill>
          <a:ln/>
        </p:spPr>
      </p:sp>
      <p:sp>
        <p:nvSpPr>
          <p:cNvPr id="36" name="Text 29"/>
          <p:cNvSpPr/>
          <p:nvPr/>
        </p:nvSpPr>
        <p:spPr>
          <a:xfrm>
            <a:off x="1591717" y="4529882"/>
            <a:ext cx="1029816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2310482" y="4490070"/>
            <a:ext cx="871835" cy="244376"/>
          </a:xfrm>
          <a:prstGeom prst="roundRect">
            <a:avLst>
              <a:gd name="adj" fmla="val 18274"/>
            </a:avLst>
          </a:prstGeom>
          <a:noFill/>
          <a:ln/>
          <a:effectLst>
            <a:outerShdw blurRad="101600" dist="50800" dir="16200000" algn="bl" rotWithShape="0">
              <a:srgbClr val="BE2025">
                <a:alpha val="100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2390180" y="4529882"/>
            <a:ext cx="1169640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BE2025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GITHUB PAGES</a:t>
            </a:r>
            <a:endParaRPr lang="en-US" sz="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03AC0A-B51F-16D2-0F74-40BB4E473BB4}"/>
              </a:ext>
            </a:extLst>
          </p:cNvPr>
          <p:cNvSpPr txBox="1"/>
          <p:nvPr/>
        </p:nvSpPr>
        <p:spPr>
          <a:xfrm>
            <a:off x="38918" y="1284282"/>
            <a:ext cx="45995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b="1" u="sng" dirty="0">
                <a:solidFill>
                  <a:srgbClr val="C00000"/>
                </a:solidFill>
              </a:rPr>
              <a:t>Core Objective:</a:t>
            </a:r>
            <a:r>
              <a:rPr lang="en-IN" sz="1600" u="sng" dirty="0">
                <a:solidFill>
                  <a:srgbClr val="C00000"/>
                </a:solidFill>
              </a:rPr>
              <a:t> </a:t>
            </a:r>
            <a:r>
              <a:rPr lang="en-IN" sz="1600" dirty="0">
                <a:solidFill>
                  <a:srgbClr val="C00000"/>
                </a:solidFill>
              </a:rPr>
              <a:t>Construct a professional, lightning-fast, secure, modern web portal detailing scholastic merits, technical competencies, core toolsets, and active software portfolios.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u="sng" dirty="0">
                <a:solidFill>
                  <a:srgbClr val="C00000"/>
                </a:solidFill>
              </a:rPr>
              <a:t>Interface Foundations:</a:t>
            </a:r>
            <a:r>
              <a:rPr lang="en-IN" sz="1600" u="sng" dirty="0">
                <a:solidFill>
                  <a:srgbClr val="C00000"/>
                </a:solidFill>
              </a:rPr>
              <a:t> </a:t>
            </a:r>
            <a:r>
              <a:rPr lang="en-IN" sz="1600" dirty="0">
                <a:solidFill>
                  <a:srgbClr val="C00000"/>
                </a:solidFill>
              </a:rPr>
              <a:t>Developed with a sophisticated, high-contrast dark theme to minimize eye strain, utilizing responsive layouts and fluid CSS styling architecture.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u="sng" dirty="0">
                <a:solidFill>
                  <a:srgbClr val="C00000"/>
                </a:solidFill>
              </a:rPr>
              <a:t>Live Deployment Infrastructure</a:t>
            </a:r>
            <a:r>
              <a:rPr lang="en-IN" sz="1600" b="1" dirty="0">
                <a:solidFill>
                  <a:srgbClr val="C00000"/>
                </a:solidFill>
              </a:rPr>
              <a:t>:</a:t>
            </a:r>
            <a:r>
              <a:rPr lang="en-IN" sz="1600" dirty="0">
                <a:solidFill>
                  <a:srgbClr val="C00000"/>
                </a:solidFill>
              </a:rPr>
              <a:t> Successfully pushed, versioned, and hosted live globally on the serverless distribution layer of </a:t>
            </a:r>
            <a:r>
              <a:rPr lang="en-IN" sz="1600" b="1" dirty="0">
                <a:solidFill>
                  <a:srgbClr val="C00000"/>
                </a:solidFill>
              </a:rPr>
              <a:t>GitHub Pages</a:t>
            </a:r>
            <a:r>
              <a:rPr lang="en-IN" sz="16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9C18D1-1808-7172-0126-994010BF3A70}"/>
              </a:ext>
            </a:extLst>
          </p:cNvPr>
          <p:cNvSpPr txBox="1"/>
          <p:nvPr/>
        </p:nvSpPr>
        <p:spPr>
          <a:xfrm>
            <a:off x="4465291" y="1284282"/>
            <a:ext cx="456682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b="1" u="sng" dirty="0">
                <a:solidFill>
                  <a:srgbClr val="C00000"/>
                </a:solidFill>
              </a:rPr>
              <a:t>Premium UI Layouts</a:t>
            </a:r>
            <a:r>
              <a:rPr lang="en-IN" sz="1600" b="1" dirty="0">
                <a:solidFill>
                  <a:srgbClr val="C00000"/>
                </a:solidFill>
              </a:rPr>
              <a:t>:</a:t>
            </a:r>
            <a:r>
              <a:rPr lang="en-IN" sz="1600" dirty="0">
                <a:solidFill>
                  <a:srgbClr val="C00000"/>
                </a:solidFill>
              </a:rPr>
              <a:t> Features a floating frosted-glass navigation grid, custom CSS variables for rapid theme adaptation, and responsive container columns.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u="sng" dirty="0">
                <a:solidFill>
                  <a:srgbClr val="C00000"/>
                </a:solidFill>
              </a:rPr>
              <a:t>Interactive Core Dynamics</a:t>
            </a:r>
            <a:r>
              <a:rPr lang="en-IN" sz="1600" b="1" dirty="0">
                <a:solidFill>
                  <a:srgbClr val="C00000"/>
                </a:solidFill>
              </a:rPr>
              <a:t>:</a:t>
            </a:r>
            <a:r>
              <a:rPr lang="en-IN" sz="1600" dirty="0">
                <a:solidFill>
                  <a:srgbClr val="C00000"/>
                </a:solidFill>
              </a:rPr>
              <a:t> Integrates lightweight JavaScript logic engine instances to handle responsive menu toggles and fluid state modifications without performance degradation.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27D4EC-9C2E-7CA7-D5FF-07F4B63169C1}"/>
              </a:ext>
            </a:extLst>
          </p:cNvPr>
          <p:cNvSpPr txBox="1"/>
          <p:nvPr/>
        </p:nvSpPr>
        <p:spPr>
          <a:xfrm>
            <a:off x="3182317" y="4529882"/>
            <a:ext cx="5759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8"/>
              </a:rPr>
              <a:t>https://dilipnaidhruva.github.io/E-profile/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5277C2-29F3-5D53-13E8-4E00AA43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8" y="0"/>
            <a:ext cx="88402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5211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D9EDC3A5-2A24-E229-1520-4238246E20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79B867-0BAF-F6BC-5952-7F1E52BE8F50}"/>
              </a:ext>
            </a:extLst>
          </p:cNvPr>
          <p:cNvSpPr txBox="1"/>
          <p:nvPr/>
        </p:nvSpPr>
        <p:spPr>
          <a:xfrm>
            <a:off x="0" y="5143500"/>
            <a:ext cx="91439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www.flickr.com/photos/20401442@N08/15777223905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/3.0/"/>
              </a:rPr>
              <a:t>CC BY</a:t>
            </a:r>
            <a:endParaRPr lang="en-IN" sz="900"/>
          </a:p>
        </p:txBody>
      </p:sp>
      <p:sp>
        <p:nvSpPr>
          <p:cNvPr id="2" name="Shape 0"/>
          <p:cNvSpPr/>
          <p:nvPr/>
        </p:nvSpPr>
        <p:spPr>
          <a:xfrm>
            <a:off x="496119" y="390227"/>
            <a:ext cx="639217" cy="233660"/>
          </a:xfrm>
          <a:prstGeom prst="roundRect">
            <a:avLst>
              <a:gd name="adj" fmla="val 18475"/>
            </a:avLst>
          </a:prstGeom>
          <a:noFill/>
          <a:ln/>
          <a:effectLst>
            <a:outerShdw blurRad="101600" dist="50800" dir="16200000" algn="bl" rotWithShape="0">
              <a:srgbClr val="BE202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3137" y="428699"/>
            <a:ext cx="942380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306325"/>
            <a:ext cx="781185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IN" sz="3200" u="sng" dirty="0"/>
              <a:t>Project 4 – Distributed News Analytics Platform </a:t>
            </a:r>
            <a:endParaRPr lang="en-US" sz="2800" u="sng" dirty="0"/>
          </a:p>
        </p:txBody>
      </p:sp>
      <p:sp>
        <p:nvSpPr>
          <p:cNvPr id="6" name="Text 3"/>
          <p:cNvSpPr/>
          <p:nvPr/>
        </p:nvSpPr>
        <p:spPr>
          <a:xfrm>
            <a:off x="5847212" y="1115924"/>
            <a:ext cx="2649365" cy="1220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400" b="1" u="sng" dirty="0"/>
              <a:t>Objective:</a:t>
            </a:r>
            <a:r>
              <a:rPr lang="en-IN" sz="1400" dirty="0"/>
              <a:t> Construct an </a:t>
            </a:r>
          </a:p>
          <a:p>
            <a:pPr>
              <a:lnSpc>
                <a:spcPct val="104000"/>
              </a:lnSpc>
            </a:pPr>
            <a:r>
              <a:rPr lang="en-IN" sz="1400" dirty="0"/>
              <a:t>enterprise-ready, multi-sector </a:t>
            </a:r>
          </a:p>
          <a:p>
            <a:pPr>
              <a:lnSpc>
                <a:spcPct val="104000"/>
              </a:lnSpc>
            </a:pPr>
            <a:r>
              <a:rPr lang="en-IN" sz="1400" dirty="0"/>
              <a:t>digital news platform showcasing responsive</a:t>
            </a:r>
          </a:p>
          <a:p>
            <a:pPr>
              <a:lnSpc>
                <a:spcPct val="104000"/>
              </a:lnSpc>
            </a:pPr>
            <a:r>
              <a:rPr lang="en-IN" sz="1400" dirty="0"/>
              <a:t>content delivery across diverse layouts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873389" y="2508312"/>
            <a:ext cx="3133450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400" b="1" u="sng" dirty="0"/>
              <a:t>Core Layout Channels Deployed</a:t>
            </a:r>
            <a:r>
              <a:rPr lang="en-IN" sz="1400" b="1" dirty="0"/>
              <a:t>:</a:t>
            </a:r>
            <a:r>
              <a:rPr lang="en-IN" sz="1400" dirty="0"/>
              <a:t> A multi-column article grid spanning diverse topical categories including Technology, Science, Business, Sports, Medical Innovation, and Quantum Computing.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80224" y="3033043"/>
            <a:ext cx="792361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33642" y="3033043"/>
            <a:ext cx="667717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62415" y="3033043"/>
            <a:ext cx="1010989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757443" y="2994571"/>
            <a:ext cx="843037" cy="233660"/>
          </a:xfrm>
          <a:prstGeom prst="roundRect">
            <a:avLst>
              <a:gd name="adj" fmla="val 18475"/>
            </a:avLst>
          </a:prstGeom>
          <a:noFill/>
          <a:ln/>
          <a:effectLst>
            <a:outerShdw blurRad="101600" dist="50800" dir="16200000" algn="bl" rotWithShape="0">
              <a:srgbClr val="BE2025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34461" y="3033043"/>
            <a:ext cx="1146200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264" y="4090020"/>
            <a:ext cx="192658" cy="19265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3581" y="408607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Category Navigation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913581" y="4356571"/>
            <a:ext cx="220280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Organized sections for easy content discovery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679329" y="408607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3679329" y="4356571"/>
            <a:ext cx="220280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75759" y="4090020"/>
            <a:ext cx="192658" cy="1926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45076" y="4086076"/>
            <a:ext cx="2202805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News Cards &amp; Responsive Layout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45076" y="4557266"/>
            <a:ext cx="220280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Mobile-friendly card-based design</a:t>
            </a:r>
            <a:endParaRPr 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4ACF98-90A0-B9E3-EF1C-472BFFE5CB1F}"/>
              </a:ext>
            </a:extLst>
          </p:cNvPr>
          <p:cNvSpPr txBox="1"/>
          <p:nvPr/>
        </p:nvSpPr>
        <p:spPr>
          <a:xfrm>
            <a:off x="137161" y="1017478"/>
            <a:ext cx="436952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400" b="1" u="sng" dirty="0"/>
              <a:t>Source Mechanics</a:t>
            </a:r>
            <a:r>
              <a:rPr lang="en-IN" sz="1400" b="1" dirty="0"/>
              <a:t>:</a:t>
            </a:r>
            <a:r>
              <a:rPr lang="en-IN" sz="1400" dirty="0"/>
              <a:t> Engineered using pure semantic components to ensure maximum readability and rapid DOM rendering speeds.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b="1" u="sng" dirty="0"/>
              <a:t>Layout Design Grid:</a:t>
            </a:r>
            <a:r>
              <a:rPr lang="en-IN" sz="1400" u="sng" dirty="0"/>
              <a:t> </a:t>
            </a:r>
            <a:r>
              <a:rPr lang="en-IN" sz="1400" dirty="0"/>
              <a:t>Implements responsive flex containers and grid columns that adapt seamlessly across devices, automatically rearranging heavy content matrices.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b="1" u="sng" dirty="0"/>
              <a:t>Dynamic Article Interactions:</a:t>
            </a:r>
            <a:r>
              <a:rPr lang="en-IN" sz="1400" u="sng" dirty="0"/>
              <a:t> </a:t>
            </a:r>
            <a:r>
              <a:rPr lang="en-IN" sz="1400" dirty="0"/>
              <a:t>Embedded client-side interactivity featuring custom search functions, category filters, and an asynchronous.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b="1" u="sng" dirty="0"/>
              <a:t>Live Deployment Infrastructure</a:t>
            </a:r>
            <a:r>
              <a:rPr lang="en-IN" sz="1400" b="1" dirty="0"/>
              <a:t>:</a:t>
            </a:r>
            <a:r>
              <a:rPr lang="en-IN" sz="1400" dirty="0"/>
              <a:t> Successfully pushed, version-controlled, and actively hosted using the cloud infrastructure of </a:t>
            </a:r>
            <a:r>
              <a:rPr lang="en-IN" sz="1400" b="1" dirty="0"/>
              <a:t>GitHub Pages</a:t>
            </a:r>
            <a:r>
              <a:rPr lang="en-IN" sz="14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7C567-BFAF-2F49-1749-EA4ABD327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8000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277ED6-3956-3EF5-F33B-DAEEFF4B2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9687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D3FE665-173E-D05B-0A2D-50B7CCA3A13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54A73DC-497A-6F4A-F48E-090285F4F97F}"/>
              </a:ext>
            </a:extLst>
          </p:cNvPr>
          <p:cNvSpPr txBox="1"/>
          <p:nvPr/>
        </p:nvSpPr>
        <p:spPr>
          <a:xfrm>
            <a:off x="0" y="5143500"/>
            <a:ext cx="91439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www.flickr.com/photos/sakeeb/4647211575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/3.0/"/>
              </a:rPr>
              <a:t>CC BY</a:t>
            </a:r>
            <a:endParaRPr lang="en-IN" sz="900"/>
          </a:p>
        </p:txBody>
      </p:sp>
      <p:sp>
        <p:nvSpPr>
          <p:cNvPr id="2" name="Text 0"/>
          <p:cNvSpPr/>
          <p:nvPr/>
        </p:nvSpPr>
        <p:spPr>
          <a:xfrm>
            <a:off x="467853" y="95969"/>
            <a:ext cx="8282121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u="sng" dirty="0">
                <a:solidFill>
                  <a:srgbClr val="BF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TECHNOLOGY</a:t>
            </a:r>
            <a:endParaRPr lang="en-US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080195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u="sng" dirty="0">
                <a:solidFill>
                  <a:srgbClr val="C00000"/>
                </a:solidFill>
                <a:latin typeface="Times New Roman" panose="02020603050405020304" pitchFamily="18" charset="0"/>
                <a:ea typeface="Crimson Text" pitchFamily="34" charset="-122"/>
                <a:cs typeface="Times New Roman" panose="02020603050405020304" pitchFamily="18" charset="0"/>
              </a:rPr>
              <a:t>A curated set of modern tools spanning programming, version control, web development, and AI.</a:t>
            </a:r>
            <a:endParaRPr lang="en-US" sz="1600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1436191"/>
            <a:ext cx="270197" cy="270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86734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96119" y="2155701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Core programming language for algorithmic problem-solving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2442" y="1436191"/>
            <a:ext cx="270197" cy="2701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52442" y="186734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652442" y="2155701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Version control and collaborative code management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624361"/>
            <a:ext cx="270197" cy="2701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05551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HTML5 · CSS3 · JS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96119" y="3343870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Front-end triad for responsive web development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52442" y="2624361"/>
            <a:ext cx="270197" cy="2701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52442" y="305551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652442" y="3343870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Free cloud hosting for static websites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812530"/>
            <a:ext cx="270197" cy="27019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424368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Hugging Face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96119" y="4532040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AI model hub for analysis and deployment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2442" y="3812530"/>
            <a:ext cx="270197" cy="27019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52442" y="424368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4652442" y="4532040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Cross-device layouts for all screen sizes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C3AB23B-B395-ABAA-DF98-EB0022F208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9105082" cy="512849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412924"/>
            <a:ext cx="8184150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b="1" u="sng" dirty="0">
                <a:solidFill>
                  <a:srgbClr val="BF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DEPLOYMENT WORKFLOW</a:t>
            </a:r>
            <a:endParaRPr lang="en-US" sz="3600" u="sng" dirty="0"/>
          </a:p>
        </p:txBody>
      </p:sp>
      <p:sp>
        <p:nvSpPr>
          <p:cNvPr id="3" name="Text 1"/>
          <p:cNvSpPr/>
          <p:nvPr/>
        </p:nvSpPr>
        <p:spPr>
          <a:xfrm>
            <a:off x="496119" y="1077366"/>
            <a:ext cx="7890644" cy="86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anose="02020603050405020304" pitchFamily="18" charset="0"/>
                <a:ea typeface="Crimson Text" pitchFamily="34" charset="-122"/>
                <a:cs typeface="Times New Roman" panose="02020603050405020304" pitchFamily="18" charset="0"/>
              </a:rPr>
              <a:t>Every project follows a structured pipeline from concept to live deployment ensuring version control, collaboration, and public accessibility at each stage.</a:t>
            </a:r>
          </a:p>
          <a:p>
            <a:pPr>
              <a:lnSpc>
                <a:spcPct val="129000"/>
              </a:lnSpc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lifecycle of these GitHub projects follows a structured pipeline where an initial idea is accelerated using Gemini's AI capabilities,</a:t>
            </a:r>
          </a:p>
          <a:p>
            <a:pPr>
              <a:lnSpc>
                <a:spcPct val="129000"/>
              </a:lnSpc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written into clean source code, version-controlled with atomic Git commits, and ultimately hosted live for public accessibility via GitHub Pages or Hugging Face. </a:t>
            </a:r>
            <a:endParaRPr lang="en-US" sz="1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9000"/>
              </a:lnSpc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68" y="1912995"/>
            <a:ext cx="7890644" cy="22135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02209" y="3665608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GitHub Pages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02299" y="3665608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Commit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540" y="3665608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GitHub Repo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18781" y="3665608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4415" y="3665608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Idea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524524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This workflow emphasizes </a:t>
            </a:r>
            <a:r>
              <a:rPr lang="en-US" sz="10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version control</a:t>
            </a:r>
            <a:r>
              <a:rPr lang="en-US" sz="10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, </a:t>
            </a:r>
            <a:r>
              <a:rPr lang="en-US" sz="10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cloud hosting</a:t>
            </a:r>
            <a:r>
              <a:rPr lang="en-US" sz="10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, and </a:t>
            </a:r>
            <a:r>
              <a:rPr lang="en-US" sz="10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live project sharing</a:t>
            </a:r>
            <a:r>
              <a:rPr lang="en-US" sz="10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— core practices in modern software engineering.</a:t>
            </a:r>
            <a:endParaRPr lang="en-US" sz="1000" dirty="0"/>
          </a:p>
        </p:txBody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CD1F3FD-66A2-FCF5-1E00-93CB7ECE65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-1188"/>
            <a:ext cx="9143999" cy="514468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8" y="415379"/>
            <a:ext cx="817081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u="sng" dirty="0">
                <a:solidFill>
                  <a:srgbClr val="BF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Learning Outcomes &amp; Future Scope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070967"/>
            <a:ext cx="4004965" cy="835893"/>
          </a:xfrm>
          <a:prstGeom prst="roundRect">
            <a:avLst>
              <a:gd name="adj" fmla="val 7123"/>
            </a:avLst>
          </a:prstGeom>
          <a:solidFill>
            <a:srgbClr val="F8D3D5"/>
          </a:solidFill>
          <a:ln w="4763">
            <a:solidFill>
              <a:srgbClr val="DEB9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217488"/>
            <a:ext cx="1854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13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 4 Projects Completed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533525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Python tooling, AI analysis, and two deployed websites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070967"/>
            <a:ext cx="4005039" cy="835893"/>
          </a:xfrm>
          <a:prstGeom prst="roundRect">
            <a:avLst>
              <a:gd name="adj" fmla="val 7123"/>
            </a:avLst>
          </a:prstGeom>
          <a:solidFill>
            <a:srgbClr val="F8D3D5"/>
          </a:solidFill>
          <a:ln w="4763">
            <a:solidFill>
              <a:srgbClr val="DEB9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1217488"/>
            <a:ext cx="17720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13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 Git &amp; GitHub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1533525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Version control, branching, and collaborative workflows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048619"/>
            <a:ext cx="4004965" cy="835893"/>
          </a:xfrm>
          <a:prstGeom prst="roundRect">
            <a:avLst>
              <a:gd name="adj" fmla="val 7123"/>
            </a:avLst>
          </a:prstGeom>
          <a:solidFill>
            <a:srgbClr val="F8D3D5"/>
          </a:solidFill>
          <a:ln w="4763">
            <a:solidFill>
              <a:srgbClr val="DEB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2195140"/>
            <a:ext cx="17720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13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 Cloud Deployment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2511177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Live hosting via GitHub Pages with public URLs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048619"/>
            <a:ext cx="4005039" cy="835893"/>
          </a:xfrm>
          <a:prstGeom prst="roundRect">
            <a:avLst>
              <a:gd name="adj" fmla="val 7123"/>
            </a:avLst>
          </a:prstGeom>
          <a:solidFill>
            <a:srgbClr val="F8D3D5"/>
          </a:solidFill>
          <a:ln w="4763">
            <a:solidFill>
              <a:srgbClr val="DEB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2195140"/>
            <a:ext cx="17720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13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 AI &amp; ML Exposure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2511177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Hands-on analysis of DeepSeek-R1 on Hugging Face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069" y="3043982"/>
            <a:ext cx="8170813" cy="168406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4076" y="3204790"/>
            <a:ext cx="771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u="sng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FUTURE SCOPE</a:t>
            </a:r>
            <a:endParaRPr lang="en-US" u="sng" dirty="0"/>
          </a:p>
        </p:txBody>
      </p:sp>
      <p:sp>
        <p:nvSpPr>
          <p:cNvPr id="17" name="Text 14"/>
          <p:cNvSpPr/>
          <p:nvPr/>
        </p:nvSpPr>
        <p:spPr>
          <a:xfrm>
            <a:off x="714077" y="3511302"/>
            <a:ext cx="7772995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u="sng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Build full-stack web applications with backend APIs</a:t>
            </a:r>
            <a:endParaRPr lang="en-US" sz="1400" u="sng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u="sng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Integrate REST APIs and third-party services</a:t>
            </a:r>
            <a:endParaRPr lang="en-US" sz="1400" u="sng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u="sng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Explore AI model fine-tuning and deployment</a:t>
            </a:r>
            <a:endParaRPr lang="en-US" sz="1400" u="sng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u="sng" dirty="0">
                <a:solidFill>
                  <a:srgbClr val="000000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Contribute to open-source projects on GitHub</a:t>
            </a:r>
            <a:endParaRPr lang="en-US" sz="1400" u="sng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61A54B-5D80-3AE8-9D96-F2B4FA0CD22B}"/>
              </a:ext>
            </a:extLst>
          </p:cNvPr>
          <p:cNvSpPr/>
          <p:nvPr/>
        </p:nvSpPr>
        <p:spPr>
          <a:xfrm>
            <a:off x="7922834" y="4802075"/>
            <a:ext cx="1162172" cy="341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C98E2C-CD12-85F2-7406-9674E19B5F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861"/>
            <a:ext cx="9144001" cy="51453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2DB37F-3B43-B73A-9917-70A8FA316CD7}"/>
              </a:ext>
            </a:extLst>
          </p:cNvPr>
          <p:cNvSpPr txBox="1"/>
          <p:nvPr/>
        </p:nvSpPr>
        <p:spPr>
          <a:xfrm>
            <a:off x="689066" y="623267"/>
            <a:ext cx="80663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D73752-4B5F-CB15-5AA5-171340199794}"/>
              </a:ext>
            </a:extLst>
          </p:cNvPr>
          <p:cNvSpPr txBox="1"/>
          <p:nvPr/>
        </p:nvSpPr>
        <p:spPr>
          <a:xfrm>
            <a:off x="1658982" y="2460861"/>
            <a:ext cx="56823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IN" sz="28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DILIP NAIDHRUVA K</a:t>
            </a:r>
          </a:p>
          <a:p>
            <a:pPr algn="ctr"/>
            <a:r>
              <a:rPr lang="en-IN" sz="28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CSIT A (R25EJ029)</a:t>
            </a:r>
          </a:p>
          <a:p>
            <a:pPr algn="ctr"/>
            <a:r>
              <a:rPr lang="en-IN" sz="28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REVA UNIVERSITY </a:t>
            </a:r>
          </a:p>
        </p:txBody>
      </p:sp>
    </p:spTree>
    <p:extLst>
      <p:ext uri="{BB962C8B-B14F-4D97-AF65-F5344CB8AC3E}">
        <p14:creationId xmlns:p14="http://schemas.microsoft.com/office/powerpoint/2010/main" val="955733981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1095</Words>
  <Application>Microsoft Office PowerPoint</Application>
  <PresentationFormat>On-screen Show (16:9)</PresentationFormat>
  <Paragraphs>140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Crimson Text Bold</vt:lpstr>
      <vt:lpstr>Crimson Text</vt:lpstr>
      <vt:lpstr>Twemoji Mozilla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Dilip Naidhruva</cp:lastModifiedBy>
  <cp:revision>6</cp:revision>
  <dcterms:created xsi:type="dcterms:W3CDTF">2026-06-23T20:10:03Z</dcterms:created>
  <dcterms:modified xsi:type="dcterms:W3CDTF">2026-06-28T11:28:46Z</dcterms:modified>
</cp:coreProperties>
</file>